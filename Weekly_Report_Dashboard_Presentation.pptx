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4" d="100"/>
          <a:sy n="74" d="100"/>
        </p:scale>
        <p:origin x="5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</a:rPr>
              <a:t>Submission Trend</a:t>
            </a: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Reports submitted</c:v>
                </c:pt>
              </c:strCache>
            </c:strRef>
          </c:tx>
          <c:spPr>
            <a:ln w="38100" cap="flat">
              <a:solidFill>
                <a:srgbClr val="3763F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763F2"/>
              </a:solidFill>
              <a:ln w="9525" cap="flat">
                <a:solidFill>
                  <a:srgbClr val="3763F2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3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703362272"/>
        <c:axId val="703362816"/>
      </c:lineChart>
      <c:catAx>
        <c:axId val="7033622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703362816"/>
        <c:crosses val="autoZero"/>
        <c:auto val="1"/>
        <c:lblAlgn val="ctr"/>
        <c:lblOffset val="100"/>
        <c:noMultiLvlLbl val="1"/>
      </c:catAx>
      <c:valAx>
        <c:axId val="703362816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7033622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</a:rPr>
              <a:t>Submission Status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Members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11827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Submitted</c:v>
                </c:pt>
                <c:pt idx="1">
                  <c:v>Pending</c:v>
                </c:pt>
                <c:pt idx="2">
                  <c:v>Late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804759344"/>
        <c:axId val="804760976"/>
      </c:barChart>
      <c:catAx>
        <c:axId val="80475934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804760976"/>
        <c:crosses val="autoZero"/>
        <c:auto val="1"/>
        <c:lblAlgn val="ctr"/>
        <c:lblOffset val="100"/>
        <c:noMultiLvlLbl val="1"/>
      </c:catAx>
      <c:valAx>
        <c:axId val="804760976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8047593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</a:rPr>
              <a:t>Workload by Project</a:t>
            </a:r>
          </a:p>
        </c:rich>
      </c:tx>
      <c:layout/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763F2"/>
              </a:solidFill>
              <a:effectLst/>
            </c:spPr>
          </c:dPt>
          <c:dPt>
            <c:idx val="1"/>
            <c:bubble3D val="0"/>
            <c:spPr>
              <a:solidFill>
                <a:srgbClr val="5A89FF"/>
              </a:solidFill>
              <a:effectLst/>
            </c:spPr>
          </c:dPt>
          <c:dPt>
            <c:idx val="2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3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Client A</c:v>
                </c:pt>
                <c:pt idx="1">
                  <c:v>Internal Tooling</c:v>
                </c:pt>
                <c:pt idx="2">
                  <c:v>R&amp;D</c:v>
                </c:pt>
                <c:pt idx="3">
                  <c:v>Marketing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40</c:v>
                </c:pt>
                <c:pt idx="2">
                  <c:v>35</c:v>
                </c:pt>
                <c:pt idx="3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txPr>
        <a:bodyPr/>
        <a:lstStyle/>
        <a:p>
          <a:pPr>
            <a:defRPr sz="8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3066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YasinthaWanasundara/weekly-report-system" TargetMode="Externa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s.google.com/presentation/d/18cRkAIfj8Ec4Jplj7lTexhhIY264SNo-/edit?usp=sharing&amp;ouid=118075605909374359343&amp;rtpof=true&amp;sd=true" TargetMode="External"/><Relationship Id="rId5" Type="http://schemas.openxmlformats.org/officeDocument/2006/relationships/hyperlink" Target="https://drive.google.com/file/d/1xogQvXjWYVdseQjRzj485qtiLWx23kTl/view?usp=sharing" TargetMode="External"/><Relationship Id="rId4" Type="http://schemas.openxmlformats.org/officeDocument/2006/relationships/hyperlink" Target="https://drive.google.com/file/d/14eOlULZIIMW2Imp8Nxtsi4Pgt9oEuQbo/view?usp=sharing" TargetMode="External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029200" cy="50292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114800" cy="41148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54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8AB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ASSIGNMENT — SE INTERNSHIP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9601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Report Generator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Team Dashboard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 system for structured weekly reporting and team-wide, role-based analytics.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663440"/>
            <a:ext cx="2468880" cy="502920"/>
          </a:xfrm>
          <a:prstGeom prst="roundRect">
            <a:avLst>
              <a:gd name="adj" fmla="val 18182"/>
            </a:avLst>
          </a:prstGeom>
          <a:solidFill>
            <a:srgbClr val="1E2A45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773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46634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Tailwind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4663440"/>
            <a:ext cx="2468880" cy="502920"/>
          </a:xfrm>
          <a:prstGeom prst="roundRect">
            <a:avLst>
              <a:gd name="adj" fmla="val 18182"/>
            </a:avLst>
          </a:prstGeom>
          <a:solidFill>
            <a:srgbClr val="1E2A45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4773168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40480" y="46634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Express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035040" y="4663440"/>
            <a:ext cx="2468880" cy="502920"/>
          </a:xfrm>
          <a:prstGeom prst="roundRect">
            <a:avLst>
              <a:gd name="adj" fmla="val 18182"/>
            </a:avLst>
          </a:prstGeom>
          <a:solidFill>
            <a:srgbClr val="1E2A45"/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4773168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92240" y="466344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&amp; Scope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multi-user system where team members log structured weekly reports and managers analyze them across the whole team.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93B">
                <a:alpha val="8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788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315468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 vs Manager/Admin, enforced server-side on every route.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5196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93B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1488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26280" y="2788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report schema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526280" y="315468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fields, same order, for every user — reports stay comparable.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7955280" y="18745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93B">
                <a:alpha val="8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214884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29600" y="27889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dashboard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29600" y="3154680"/>
            <a:ext cx="2971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by member, project, date range; compliance &amp; workload insights.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274552" y="6151977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291840" cy="1554480"/>
          </a:xfrm>
          <a:prstGeom prst="roundRect">
            <a:avLst>
              <a:gd name="adj" fmla="val 5882"/>
            </a:avLst>
          </a:prstGeom>
          <a:solidFill>
            <a:srgbClr val="3763F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9659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(Vite + Tailwind)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report page · Team dashboard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480560" y="1828800"/>
            <a:ext cx="3154680" cy="155448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/>
        </p:spPr>
      </p:sp>
      <p:sp>
        <p:nvSpPr>
          <p:cNvPr id="7" name="Text 5"/>
          <p:cNvSpPr/>
          <p:nvPr/>
        </p:nvSpPr>
        <p:spPr>
          <a:xfrm>
            <a:off x="4526280" y="19659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REST API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2628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 · RBAC middleware · Controllers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422782" y="1828800"/>
            <a:ext cx="3007217" cy="1554480"/>
          </a:xfrm>
          <a:prstGeom prst="roundRect">
            <a:avLst>
              <a:gd name="adj" fmla="val 5882"/>
            </a:avLst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9659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(Sequelize)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32104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projects · </a:t>
            </a:r>
            <a:r>
              <a:rPr lang="en-US" sz="1050" dirty="0" smtClean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40480" y="2606040"/>
            <a:ext cx="6400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815045" y="2696743"/>
            <a:ext cx="69095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JSON (JWT bearer)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635240" y="2606040"/>
            <a:ext cx="78754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7578895" y="2606040"/>
            <a:ext cx="79849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Sequelize ORM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749040"/>
            <a:ext cx="110642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User authenticates → server issues a signed JWT containing user id + role.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Every request carries the JWT; "protect" middleware verifies it, "requireRole" gates manager-only routes.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Members' report queries are always scoped to req.user.id at the controller level — never trusted from the client.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Dashboard endpoints run SQL GROUP BY / SUM / COUNT queries directly over the reports table for real-time metrics.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164857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Entity-Relationship Diagram — PostgreSQL tables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07470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6787" y="1209933"/>
            <a:ext cx="9442830" cy="48982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Structure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separation between the personal report page and the team dashboard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2752859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0116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8745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Reports (Team Member)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27432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ReportForm — fixed, shared schema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ReportCard — history grouped by week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/ edit / submit / save draft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394960" cy="2752859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1E293B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18745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0116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60920" y="187452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Dashboard (Manager)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537960" y="27432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SummaryCard — compliance, blockers, headcount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TasksTrendChart / SubmissionStatusChart / WorkloadChart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Filterable report table (member, project, date range)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360" y="6053132"/>
            <a:ext cx="457240" cy="280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Design &amp; Role-Based Access Control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970702"/>
              </p:ext>
            </p:extLst>
          </p:nvPr>
        </p:nvGraphicFramePr>
        <p:xfrm>
          <a:off x="548640" y="1143000"/>
          <a:ext cx="11064240" cy="3017520"/>
        </p:xfrm>
        <a:graphic>
          <a:graphicData uri="http://schemas.openxmlformats.org/drawingml/2006/table">
            <a:tbl>
              <a:tblPr/>
              <a:tblGrid>
                <a:gridCol w="4206240"/>
                <a:gridCol w="3200400"/>
                <a:gridCol w="3657600"/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/api/auth/register, /login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creation &amp; JWT issuance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GET/POST /api/reports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(own) / Manager (all, filtered)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&amp; list weekly reports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PUT/DELETE /api/reports/:id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smtClean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</a:t>
                      </a: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or remove a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GET/POST/PUT/DELETE /api/projects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Read: any user · Write: Manager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 project/category list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/api/dashboard/*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Manager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Summary, trend, workload, activity aggregations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3763F2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950" dirty="0"/>
          </a:p>
        </p:txBody>
      </p:sp>
      <p:sp>
        <p:nvSpPr>
          <p:cNvPr id="3" name="Shape 4"/>
          <p:cNvSpPr/>
          <p:nvPr/>
        </p:nvSpPr>
        <p:spPr>
          <a:xfrm>
            <a:off x="256032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78892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111827"/>
          </a:solidFill>
          <a:ln/>
        </p:spPr>
      </p:sp>
      <p:sp>
        <p:nvSpPr>
          <p:cNvPr id="9" name="Text 6"/>
          <p:cNvSpPr/>
          <p:nvPr/>
        </p:nvSpPr>
        <p:spPr>
          <a:xfrm>
            <a:off x="283464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(verify JWT)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80060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02920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3763F2"/>
          </a:solidFill>
          <a:ln/>
        </p:spPr>
      </p:sp>
      <p:sp>
        <p:nvSpPr>
          <p:cNvPr id="12" name="Text 9"/>
          <p:cNvSpPr/>
          <p:nvPr/>
        </p:nvSpPr>
        <p:spPr>
          <a:xfrm>
            <a:off x="507492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requireRole('manager') if needed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04088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26948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111827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(scoped query)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281160" y="4892040"/>
            <a:ext cx="228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9509760" y="457200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3763F2"/>
          </a:solidFill>
          <a:ln/>
        </p:spPr>
      </p:sp>
      <p:sp>
        <p:nvSpPr>
          <p:cNvPr id="18" name="Text 15"/>
          <p:cNvSpPr/>
          <p:nvPr/>
        </p:nvSpPr>
        <p:spPr>
          <a:xfrm>
            <a:off x="9555480" y="45720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00" y="6117013"/>
            <a:ext cx="457240" cy="280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&amp; Visual Insights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on the frontend; SQL GROUP BY queries on the backend</a:t>
            </a:r>
            <a:endParaRPr lang="en-US" sz="12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371600"/>
          <a:ext cx="36576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297680" y="1371600"/>
          <a:ext cx="365760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6" name="Chart 2"/>
          <p:cNvGraphicFramePr/>
          <p:nvPr/>
        </p:nvGraphicFramePr>
        <p:xfrm>
          <a:off x="8138160" y="1371600"/>
          <a:ext cx="356616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397764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reports submitted: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count vs. team size</a:t>
            </a: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compliance rate: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÷ total members</a:t>
            </a: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blockers across the team: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with a non-empty blockers field</a:t>
            </a: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activity feed: 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submissions, newest first</a:t>
            </a:r>
            <a:endParaRPr lang="en-US" sz="1200" dirty="0"/>
          </a:p>
        </p:txBody>
      </p:sp>
      <p:sp>
        <p:nvSpPr>
          <p:cNvPr id="8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080" y="6149392"/>
            <a:ext cx="457240" cy="280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How They Were Solved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93B">
                <a:alpha val="6000"/>
              </a:srgbClr>
            </a:outerShdw>
          </a:effectLst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544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37160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report fields identical for every user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77840" y="137160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once in the Sequelize model definition and again in a single shared ReportForm component — no per-user customization surface exists in the UI or API.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93B">
                <a:alpha val="6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432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256032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members from viewing/editing others' reports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577840" y="256032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check happens in the controller (report.user === req.user.id), not just hidden in the frontend — verified with role-based route tests.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36576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93B">
                <a:alpha val="6000"/>
              </a:srgbClr>
            </a:outerShdw>
          </a:effectLst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3192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37490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dashboard metrics efficiently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577840" y="374904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SQL GROUP BY / SUM / COUNT queries (via Sequelize) directly on the reports table instead of pulling all rows into Node and computing in memory.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4846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E293B">
                <a:alpha val="6000"/>
              </a:srgbClr>
            </a:outerShdw>
          </a:effectLst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12064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17320" y="493776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'late' vs 'pending' submissions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5577840" y="493776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member is 'late' only once the selected week's Sunday has passed and they still haven't submitted — computed server-side per request.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274552" y="619061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 Future Improvements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3716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AI Chat Assistant described earlier (Q&amp;A + auto-generated team summaries)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Email/Slack reminders for pending or late weekly reports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68833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88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688336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Refresh-token rotation instead of long-lived JWTs, plus rate limiting on auth routes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467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00507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763F2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005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00507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Exportable PDF/CSV weekly summaries for managers and stakeholders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4663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3335113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(Jest/Supertest) covering role-based access boundaries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048949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114800"/>
            <a:ext cx="4572000" cy="4572000"/>
          </a:xfrm>
          <a:prstGeom prst="ellipse">
            <a:avLst/>
          </a:prstGeom>
          <a:solidFill>
            <a:srgbClr val="1E2A4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08744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223312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includes: 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70234" y="5139991"/>
            <a:ext cx="350305" cy="365760"/>
          </a:xfrm>
          <a:prstGeom prst="roundRect">
            <a:avLst>
              <a:gd name="adj" fmla="val 20000"/>
            </a:avLst>
          </a:prstGeom>
          <a:solidFill>
            <a:srgbClr val="FFC000"/>
          </a:solidFill>
          <a:ln/>
        </p:spPr>
      </p:sp>
      <p:sp>
        <p:nvSpPr>
          <p:cNvPr id="8" name="Text 5"/>
          <p:cNvSpPr/>
          <p:nvPr/>
        </p:nvSpPr>
        <p:spPr>
          <a:xfrm>
            <a:off x="1474630" y="4197096"/>
            <a:ext cx="812492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link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GitHub repository</a:t>
            </a:r>
            <a:endParaRPr lang="en-US" sz="1300" dirty="0">
              <a:solidFill>
                <a:schemeClr val="bg1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n-US" sz="1300" dirty="0">
                <a:solidFill>
                  <a:schemeClr val="bg1"/>
                </a:solidFill>
                <a:hlinkClick r:id="rId3"/>
              </a:rPr>
              <a:t>https://</a:t>
            </a:r>
            <a:r>
              <a:rPr lang="en-US" sz="1300" dirty="0" smtClean="0">
                <a:solidFill>
                  <a:schemeClr val="bg1"/>
                </a:solidFill>
                <a:hlinkClick r:id="rId3"/>
              </a:rPr>
              <a:t>github.com/YasinthaWanasundara/weekly-report-system</a:t>
            </a:r>
            <a:endParaRPr lang="en-US" sz="1300" dirty="0" smtClean="0">
              <a:solidFill>
                <a:schemeClr val="bg1"/>
              </a:solidFill>
            </a:endParaRP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dirty="0" smtClean="0">
                <a:solidFill>
                  <a:schemeClr val="bg1"/>
                </a:solidFill>
              </a:rPr>
              <a:t>One Drive Link  -  Demo video </a:t>
            </a:r>
          </a:p>
          <a:p>
            <a:r>
              <a:rPr lang="en-US" sz="1300" dirty="0">
                <a:solidFill>
                  <a:schemeClr val="bg1"/>
                </a:solidFill>
                <a:hlinkClick r:id="rId4"/>
              </a:rPr>
              <a:t>https://drive.google.com/file/d/14eOlULZIIMW2Imp8Nxtsi4Pgt9oEuQbo/view?usp=sharing</a:t>
            </a:r>
            <a:endParaRPr lang="en-US" sz="1300" dirty="0">
              <a:solidFill>
                <a:schemeClr val="bg1"/>
              </a:solidFill>
            </a:endParaRPr>
          </a:p>
          <a:p>
            <a:endParaRPr lang="en-US" sz="1300" dirty="0" smtClean="0">
              <a:solidFill>
                <a:schemeClr val="bg1"/>
              </a:solidFill>
            </a:endParaRPr>
          </a:p>
          <a:p>
            <a:endParaRPr lang="en-US" sz="1300" dirty="0" smtClean="0">
              <a:solidFill>
                <a:schemeClr val="bg1"/>
              </a:solidFill>
            </a:endParaRPr>
          </a:p>
          <a:p>
            <a:r>
              <a:rPr lang="en-US" sz="1300" dirty="0" smtClean="0">
                <a:solidFill>
                  <a:schemeClr val="bg1"/>
                </a:solidFill>
              </a:rPr>
              <a:t>ER diagram Link </a:t>
            </a:r>
          </a:p>
          <a:p>
            <a:r>
              <a:rPr lang="en-US" sz="1300" dirty="0">
                <a:solidFill>
                  <a:schemeClr val="bg1"/>
                </a:solidFill>
                <a:hlinkClick r:id="rId5"/>
              </a:rPr>
              <a:t>https://</a:t>
            </a:r>
            <a:r>
              <a:rPr lang="en-US" sz="1300" dirty="0" smtClean="0">
                <a:solidFill>
                  <a:schemeClr val="bg1"/>
                </a:solidFill>
                <a:hlinkClick r:id="rId5"/>
              </a:rPr>
              <a:t>drive.google.com/file/d/1xogQvXjWYVdseQjRzj485qtiLWx23kTl/view?usp=sharing</a:t>
            </a:r>
            <a:endParaRPr lang="en-US" sz="1300" dirty="0" smtClean="0">
              <a:solidFill>
                <a:schemeClr val="bg1"/>
              </a:solidFill>
            </a:endParaRPr>
          </a:p>
          <a:p>
            <a:endParaRPr lang="en-US" sz="1300" dirty="0">
              <a:solidFill>
                <a:schemeClr val="bg1"/>
              </a:solidFill>
            </a:endParaRPr>
          </a:p>
          <a:p>
            <a:r>
              <a:rPr lang="en-US" sz="1300" dirty="0" smtClean="0">
                <a:solidFill>
                  <a:schemeClr val="bg1"/>
                </a:solidFill>
              </a:rPr>
              <a:t>Presentation Link </a:t>
            </a:r>
          </a:p>
          <a:p>
            <a:r>
              <a:rPr lang="en-US" sz="1300" dirty="0">
                <a:solidFill>
                  <a:schemeClr val="bg1"/>
                </a:solidFill>
                <a:hlinkClick r:id="rId6"/>
              </a:rPr>
              <a:t>https://docs.google.com/presentation/d/18cRkAIfj8Ec4Jplj7lTexhhIY264SNo-/</a:t>
            </a:r>
            <a:r>
              <a:rPr lang="en-US" sz="1300" dirty="0" smtClean="0">
                <a:solidFill>
                  <a:schemeClr val="bg1"/>
                </a:solidFill>
                <a:hlinkClick r:id="rId6"/>
              </a:rPr>
              <a:t>edit?usp=sharing&amp;ouid=118075605909374359343&amp;rtpof=true&amp;sd=true</a:t>
            </a:r>
            <a:endParaRPr lang="en-US" sz="1300" dirty="0" smtClean="0">
              <a:solidFill>
                <a:schemeClr val="bg1"/>
              </a:solidFill>
            </a:endParaRPr>
          </a:p>
          <a:p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 Generator &amp; Team Dashboard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229251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5237" y="3091719"/>
            <a:ext cx="353599" cy="365792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5236" y="4425680"/>
            <a:ext cx="353599" cy="365792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5237" y="3705791"/>
            <a:ext cx="353599" cy="3657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1483</TotalTime>
  <Words>764</Words>
  <Application>Microsoft Office PowerPoint</Application>
  <PresentationFormat>Widescreen</PresentationFormat>
  <Paragraphs>139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 Generator &amp; Team Dashboard</dc:title>
  <dc:subject>PptxGenJS Presentation</dc:subject>
  <dc:creator>SE Internship Candidate</dc:creator>
  <cp:lastModifiedBy>Microsoft account</cp:lastModifiedBy>
  <cp:revision>7</cp:revision>
  <dcterms:created xsi:type="dcterms:W3CDTF">2026-07-07T08:01:46Z</dcterms:created>
  <dcterms:modified xsi:type="dcterms:W3CDTF">2026-07-08T10:30:13Z</dcterms:modified>
</cp:coreProperties>
</file>