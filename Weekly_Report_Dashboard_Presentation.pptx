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r>
              <a:rPr sz="1100" b="0" i="0" u="none" strike="noStrike">
                <a:solidFill>
                  <a:srgbClr val="000000"/>
                </a:solidFill>
                <a:latin typeface="Arial"/>
              </a:rPr>
              <a:t>Submission Trend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Reports submitted</c:v>
                </c:pt>
              </c:strCache>
            </c:strRef>
          </c:tx>
          <c:spPr>
            <a:solidFill>
              <a:srgbClr val="3763F2"/>
            </a:solidFill>
            <a:ln w="38100" cap="flat">
              <a:solidFill>
                <a:srgbClr val="3763F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11827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3763F2"/>
              </a:solidFill>
              <a:ln w="9525" cap="flat">
                <a:solidFill>
                  <a:srgbClr val="3763F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Wk 1</c:v>
                  </c:pt>
                  <c:pt idx="1">
                    <c:v>Wk 2</c:v>
                  </c:pt>
                  <c:pt idx="2">
                    <c:v>Wk 3</c:v>
                  </c:pt>
                  <c:pt idx="3">
                    <c:v>Wk 4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</c:v>
                </c:pt>
                <c:pt idx="1">
                  <c:v>3</c:v>
                </c:pt>
                <c:pt idx="2">
                  <c:v>2</c:v>
                </c:pt>
                <c:pt idx="3">
                  <c:v>3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11827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r>
              <a:rPr sz="1100" b="0" i="0" u="none" strike="noStrike">
                <a:solidFill>
                  <a:srgbClr val="000000"/>
                </a:solidFill>
                <a:latin typeface="Arial"/>
              </a:rPr>
              <a:t>Submission Status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Members</c:v>
                </c:pt>
              </c:strCache>
            </c:strRef>
          </c:tx>
          <c:spPr>
            <a:solidFill>
              <a:srgbClr val="10B98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11827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Submitted</c:v>
                  </c:pt>
                  <c:pt idx="1">
                    <c:v>Pending</c:v>
                  </c:pt>
                  <c:pt idx="2">
                    <c:v>Late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</c:v>
                </c:pt>
                <c:pt idx="1">
                  <c:v>1</c:v>
                </c:pt>
                <c:pt idx="2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1182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r>
              <a:rPr sz="1100" b="0" i="0" u="none" strike="noStrike">
                <a:solidFill>
                  <a:srgbClr val="000000"/>
                </a:solidFill>
                <a:latin typeface="Arial"/>
              </a:rPr>
              <a:t>Workload by Project</a:t>
            </a:r>
          </a:p>
        </c:rich>
      </c:tx>
      <c:layout/>
      <c:overlay val="0"/>
    </c:title>
    <c:autoTitleDeleted val="0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Hours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3763F2"/>
              </a:solidFill>
              <a:effectLst/>
            </c:spPr>
          </c:dPt>
          <c:dPt>
            <c:idx val="1"/>
            <c:bubble3D val="0"/>
            <c:spPr>
              <a:solidFill>
                <a:srgbClr val="5A89FF"/>
              </a:solidFill>
              <a:effectLst/>
            </c:spPr>
          </c:dPt>
          <c:dPt>
            <c:idx val="2"/>
            <c:bubble3D val="0"/>
            <c:spPr>
              <a:solidFill>
                <a:srgbClr val="10B981"/>
              </a:solidFill>
              <a:effectLst/>
            </c:spPr>
          </c:dPt>
          <c:dPt>
            <c:idx val="3"/>
            <c:bubble3D val="0"/>
            <c:spPr>
              <a:solidFill>
                <a:srgbClr val="F59E0B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Client A</c:v>
                </c:pt>
                <c:pt idx="1">
                  <c:v>Internal Tooling</c:v>
                </c:pt>
                <c:pt idx="2">
                  <c:v>R&amp;D</c:v>
                </c:pt>
                <c:pt idx="3">
                  <c:v>Marketing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72</c:v>
                </c:pt>
                <c:pt idx="1">
                  <c:v>40</c:v>
                </c:pt>
                <c:pt idx="2">
                  <c:v>35</c:v>
                </c:pt>
                <c:pt idx="3">
                  <c:v>20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1463040"/>
            <a:ext cx="5029200" cy="5029200"/>
          </a:xfrm>
          <a:prstGeom prst="ellipse">
            <a:avLst/>
          </a:prstGeom>
          <a:solidFill>
            <a:srgbClr val="1E2A45"/>
          </a:solidFill>
          <a:ln/>
        </p:spPr>
      </p:sp>
      <p:sp>
        <p:nvSpPr>
          <p:cNvPr id="3" name="Shape 1"/>
          <p:cNvSpPr/>
          <p:nvPr/>
        </p:nvSpPr>
        <p:spPr>
          <a:xfrm>
            <a:off x="-1828800" y="4572000"/>
            <a:ext cx="4114800" cy="4114800"/>
          </a:xfrm>
          <a:prstGeom prst="ellipse">
            <a:avLst/>
          </a:prstGeom>
          <a:solidFill>
            <a:srgbClr val="1E2A45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5544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AB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ASSIGNMENT — SE INTERNSHIP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2011680"/>
            <a:ext cx="9601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Weekly Report Generator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&amp; Team Dashboard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31520" y="3794760"/>
            <a:ext cx="8686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full-stack system for structured weekly reporting and team-wide, role-based analytics.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4663440"/>
            <a:ext cx="2468880" cy="502920"/>
          </a:xfrm>
          <a:prstGeom prst="roundRect">
            <a:avLst>
              <a:gd name="adj" fmla="val 18182"/>
            </a:avLst>
          </a:prstGeom>
          <a:solidFill>
            <a:srgbClr val="1E2A45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" y="4773168"/>
            <a:ext cx="292608" cy="29260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88720" y="4663440"/>
            <a:ext cx="1920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+ Tailwind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4663440"/>
            <a:ext cx="2468880" cy="502920"/>
          </a:xfrm>
          <a:prstGeom prst="roundRect">
            <a:avLst>
              <a:gd name="adj" fmla="val 18182"/>
            </a:avLst>
          </a:prstGeom>
          <a:solidFill>
            <a:srgbClr val="1E2A45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93008" y="4773168"/>
            <a:ext cx="292608" cy="2926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840480" y="4663440"/>
            <a:ext cx="1920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 / Express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6035040" y="4663440"/>
            <a:ext cx="2468880" cy="502920"/>
          </a:xfrm>
          <a:prstGeom prst="roundRect">
            <a:avLst>
              <a:gd name="adj" fmla="val 18182"/>
            </a:avLst>
          </a:prstGeom>
          <a:solidFill>
            <a:srgbClr val="1E2A45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4768" y="4773168"/>
            <a:ext cx="292608" cy="292608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492240" y="4663440"/>
            <a:ext cx="1920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Objective &amp; Scope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multi-user system where team members log structured weekly reports and managers analyze them across the whole team.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352044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E293B">
                <a:alpha val="8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148840"/>
            <a:ext cx="502920" cy="5029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2788920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Role-based access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822960" y="3154680"/>
            <a:ext cx="29718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Member vs Manager/Admin, enforced server-side on every route.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4251960" y="1874520"/>
            <a:ext cx="352044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E293B">
                <a:alpha val="8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0" y="2148840"/>
            <a:ext cx="502920" cy="50292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526280" y="2788920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report schema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4526280" y="3154680"/>
            <a:ext cx="29718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fields, same order, for every user — reports stay comparable.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7955280" y="1874520"/>
            <a:ext cx="352044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E293B">
                <a:alpha val="8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2148840"/>
            <a:ext cx="502920" cy="50292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8229600" y="2788920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Manager dashboard</a:t>
            </a:r>
            <a:endParaRPr lang="en-US" sz="1500" dirty="0"/>
          </a:p>
        </p:txBody>
      </p:sp>
      <p:sp>
        <p:nvSpPr>
          <p:cNvPr id="15" name="Text 10"/>
          <p:cNvSpPr/>
          <p:nvPr/>
        </p:nvSpPr>
        <p:spPr>
          <a:xfrm>
            <a:off x="8229600" y="3154680"/>
            <a:ext cx="29718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Filters by member, project, date range; compliance &amp; workload insights.</a:t>
            </a:r>
            <a:endParaRPr lang="en-US" sz="1150" dirty="0"/>
          </a:p>
        </p:txBody>
      </p:sp>
      <p:sp>
        <p:nvSpPr>
          <p:cNvPr id="16" name="Text 11"/>
          <p:cNvSpPr/>
          <p:nvPr/>
        </p:nvSpPr>
        <p:spPr>
          <a:xfrm>
            <a:off x="548640" y="4526280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Deliverables: GitHub repo (frontend + backend + README), ER diagram, Google Slides presentation, and a demo video.</a:t>
            </a:r>
            <a:endParaRPr lang="en-US" sz="1250" dirty="0"/>
          </a:p>
        </p:txBody>
      </p:sp>
      <p:sp>
        <p:nvSpPr>
          <p:cNvPr id="17" name="Text 12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Report Generator &amp; Team Dashboard</a:t>
            </a:r>
            <a:endParaRPr lang="en-US" sz="900" dirty="0"/>
          </a:p>
        </p:txBody>
      </p:sp>
      <p:sp>
        <p:nvSpPr>
          <p:cNvPr id="18" name="Text 13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 Architecture Overview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828800"/>
            <a:ext cx="3291840" cy="1554480"/>
          </a:xfrm>
          <a:prstGeom prst="roundRect">
            <a:avLst>
              <a:gd name="adj" fmla="val 5882"/>
            </a:avLst>
          </a:prstGeom>
          <a:solidFill>
            <a:srgbClr val="3763F2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965960"/>
            <a:ext cx="2926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SPA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(Vite + Tailwind)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1520" y="269748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report page · Team dashboard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343400" y="1828800"/>
            <a:ext cx="3291840" cy="1554480"/>
          </a:xfrm>
          <a:prstGeom prst="roundRect">
            <a:avLst>
              <a:gd name="adj" fmla="val 5882"/>
            </a:avLst>
          </a:prstGeom>
          <a:solidFill>
            <a:srgbClr val="111827"/>
          </a:solidFill>
          <a:ln/>
        </p:spPr>
      </p:sp>
      <p:sp>
        <p:nvSpPr>
          <p:cNvPr id="7" name="Text 5"/>
          <p:cNvSpPr/>
          <p:nvPr/>
        </p:nvSpPr>
        <p:spPr>
          <a:xfrm>
            <a:off x="4526280" y="1965960"/>
            <a:ext cx="2926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 REST API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26280" y="269748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auth · RBAC middleware · Controllers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8138160" y="1828800"/>
            <a:ext cx="3291840" cy="1554480"/>
          </a:xfrm>
          <a:prstGeom prst="roundRect">
            <a:avLst>
              <a:gd name="adj" fmla="val 5882"/>
            </a:avLst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8321040" y="1965960"/>
            <a:ext cx="2926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(Sequelize)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321040" y="269748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· projects · reports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840480" y="2606040"/>
            <a:ext cx="502920" cy="0"/>
          </a:xfrm>
          <a:prstGeom prst="line">
            <a:avLst/>
          </a:prstGeom>
          <a:noFill/>
          <a:ln w="254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3520440" y="2788920"/>
            <a:ext cx="1188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/ JSON (JWT bearer)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7635240" y="2606040"/>
            <a:ext cx="502920" cy="0"/>
          </a:xfrm>
          <a:prstGeom prst="line">
            <a:avLst/>
          </a:prstGeom>
          <a:noFill/>
          <a:ln w="254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7360920" y="2788920"/>
            <a:ext cx="1188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Sequelize ORM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548640" y="3749040"/>
            <a:ext cx="1106424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User authenticates → server issues a signed JWT containing user id + role.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Every request carries the JWT; "protect" middleware verifies it, "requireRole" gates manager-only routes.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Members' report queries are always scoped to req.user.id at the controller level — never trusted from the client.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Dashboard endpoints run SQL GROUP BY / SUM / COUNT queries directly over the reports table for real-time metrics.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Report Generator &amp; Team Dashboard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Database Design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Entity-Relationship Diagram — PostgreSQL tables</a:t>
            </a:r>
            <a:endParaRPr lang="en-US" sz="1300" dirty="0"/>
          </a:p>
        </p:txBody>
      </p:sp>
      <p:pic>
        <p:nvPicPr>
          <p:cNvPr id="4" name="Image 0" descr="/home/claude/project/ER_DIAGRA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21511" y="1371600"/>
            <a:ext cx="7745931" cy="5074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Report Generator &amp; Team Dashboard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Frontend Structure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separation between the personal report page and the team dashboard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94960" cy="4206240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E293B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874520"/>
            <a:ext cx="640080" cy="640080"/>
          </a:xfrm>
          <a:prstGeom prst="roundRect">
            <a:avLst>
              <a:gd name="adj" fmla="val 20000"/>
            </a:avLst>
          </a:prstGeom>
          <a:solidFill>
            <a:srgbClr val="3763F2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011680"/>
            <a:ext cx="365760" cy="3657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45920" y="1874520"/>
            <a:ext cx="3931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Reports (Team Member)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22960" y="2743200"/>
            <a:ext cx="48463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ReportForm — fixed, shared schema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ReportCard — history grouped by week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/ edit / submit / save draft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822960" y="4892040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Folder: src/pages, src/components (ReportForm, ReportCard)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263640" y="1600200"/>
            <a:ext cx="5394960" cy="4206240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E293B">
                <a:alpha val="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537960" y="1874520"/>
            <a:ext cx="640080" cy="640080"/>
          </a:xfrm>
          <a:prstGeom prst="roundRect">
            <a:avLst>
              <a:gd name="adj" fmla="val 20000"/>
            </a:avLst>
          </a:prstGeom>
          <a:solidFill>
            <a:srgbClr val="10B981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201168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360920" y="1874520"/>
            <a:ext cx="3931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Dashboard (Manager)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6537960" y="2743200"/>
            <a:ext cx="48463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SummaryCard — compliance, blockers, headcount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TasksTrendChart / SubmissionStatusChart / WorkloadChart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Filterable report table (member, project, date range)</a:t>
            </a:r>
            <a:endParaRPr lang="en-US" sz="1250" dirty="0"/>
          </a:p>
        </p:txBody>
      </p:sp>
      <p:sp>
        <p:nvSpPr>
          <p:cNvPr id="15" name="Text 11"/>
          <p:cNvSpPr/>
          <p:nvPr/>
        </p:nvSpPr>
        <p:spPr>
          <a:xfrm>
            <a:off x="6537960" y="4892040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Folder: src/pages, src/components (charts/, SummaryCard)</a:t>
            </a:r>
            <a:endParaRPr lang="en-US" sz="1000" dirty="0"/>
          </a:p>
        </p:txBody>
      </p:sp>
      <p:sp>
        <p:nvSpPr>
          <p:cNvPr id="16" name="Text 12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Report Generator &amp; Team Dashboard</a:t>
            </a:r>
            <a:endParaRPr lang="en-US" sz="900" dirty="0"/>
          </a:p>
        </p:txBody>
      </p:sp>
      <p:sp>
        <p:nvSpPr>
          <p:cNvPr id="17" name="Text 13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API Design &amp; Role-Based Access Control</a:t>
            </a:r>
            <a:endParaRPr lang="en-US" sz="26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43000"/>
          <a:ext cx="1106424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3200400"/>
                <a:gridCol w="36576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Endpoint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Access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 /api/auth/register, /login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Public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Account creation &amp; JWT issuance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GET/POST /api/reports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Member (own) / Manager (all, filtered)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Create &amp; list weekly reports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PUT/DELETE /api/reports/:id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Owner only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Edit or remove a report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GET/POST/PUT/DELETE /api/projects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Read: any user · Write: Manager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Manage project/category list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GET /api/dashboard/*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Manager only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Summary, trend, workload, activity aggregations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548640" y="41148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Middleware chain</a:t>
            </a:r>
            <a:endParaRPr lang="en-US" sz="1400" dirty="0"/>
          </a:p>
        </p:txBody>
      </p:sp>
      <p:sp>
        <p:nvSpPr>
          <p:cNvPr id="5" name="Shape 2"/>
          <p:cNvSpPr/>
          <p:nvPr/>
        </p:nvSpPr>
        <p:spPr>
          <a:xfrm>
            <a:off x="548640" y="4572000"/>
            <a:ext cx="2011680" cy="640080"/>
          </a:xfrm>
          <a:prstGeom prst="roundRect">
            <a:avLst>
              <a:gd name="adj" fmla="val 14286"/>
            </a:avLst>
          </a:prstGeom>
          <a:solidFill>
            <a:srgbClr val="3763F2"/>
          </a:solidFill>
          <a:ln/>
        </p:spPr>
      </p:sp>
      <p:sp>
        <p:nvSpPr>
          <p:cNvPr id="6" name="Text 3"/>
          <p:cNvSpPr/>
          <p:nvPr/>
        </p:nvSpPr>
        <p:spPr>
          <a:xfrm>
            <a:off x="594360" y="4572000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2560320" y="4892040"/>
            <a:ext cx="228600" cy="0"/>
          </a:xfrm>
          <a:prstGeom prst="line">
            <a:avLst/>
          </a:prstGeom>
          <a:noFill/>
          <a:ln w="254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8" name="Shape 5"/>
          <p:cNvSpPr/>
          <p:nvPr/>
        </p:nvSpPr>
        <p:spPr>
          <a:xfrm>
            <a:off x="2788920" y="4572000"/>
            <a:ext cx="2011680" cy="640080"/>
          </a:xfrm>
          <a:prstGeom prst="roundRect">
            <a:avLst>
              <a:gd name="adj" fmla="val 14286"/>
            </a:avLst>
          </a:prstGeom>
          <a:solidFill>
            <a:srgbClr val="111827"/>
          </a:solidFill>
          <a:ln/>
        </p:spPr>
      </p:sp>
      <p:sp>
        <p:nvSpPr>
          <p:cNvPr id="9" name="Text 6"/>
          <p:cNvSpPr/>
          <p:nvPr/>
        </p:nvSpPr>
        <p:spPr>
          <a:xfrm>
            <a:off x="2834640" y="4572000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 (verify JWT)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4800600" y="4892040"/>
            <a:ext cx="228600" cy="0"/>
          </a:xfrm>
          <a:prstGeom prst="line">
            <a:avLst/>
          </a:prstGeom>
          <a:noFill/>
          <a:ln w="254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1" name="Shape 8"/>
          <p:cNvSpPr/>
          <p:nvPr/>
        </p:nvSpPr>
        <p:spPr>
          <a:xfrm>
            <a:off x="5029200" y="4572000"/>
            <a:ext cx="2011680" cy="640080"/>
          </a:xfrm>
          <a:prstGeom prst="roundRect">
            <a:avLst>
              <a:gd name="adj" fmla="val 14286"/>
            </a:avLst>
          </a:prstGeom>
          <a:solidFill>
            <a:srgbClr val="3763F2"/>
          </a:solidFill>
          <a:ln/>
        </p:spPr>
      </p:sp>
      <p:sp>
        <p:nvSpPr>
          <p:cNvPr id="12" name="Text 9"/>
          <p:cNvSpPr/>
          <p:nvPr/>
        </p:nvSpPr>
        <p:spPr>
          <a:xfrm>
            <a:off x="5074920" y="4572000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requireRole('manager') if needed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7040880" y="4892040"/>
            <a:ext cx="228600" cy="0"/>
          </a:xfrm>
          <a:prstGeom prst="line">
            <a:avLst/>
          </a:prstGeom>
          <a:noFill/>
          <a:ln w="254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7269480" y="4572000"/>
            <a:ext cx="2011680" cy="640080"/>
          </a:xfrm>
          <a:prstGeom prst="roundRect">
            <a:avLst>
              <a:gd name="adj" fmla="val 14286"/>
            </a:avLst>
          </a:prstGeom>
          <a:solidFill>
            <a:srgbClr val="111827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0" y="4572000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 (scoped query)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9281160" y="4892040"/>
            <a:ext cx="228600" cy="0"/>
          </a:xfrm>
          <a:prstGeom prst="line">
            <a:avLst/>
          </a:prstGeom>
          <a:noFill/>
          <a:ln w="254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7" name="Shape 14"/>
          <p:cNvSpPr/>
          <p:nvPr/>
        </p:nvSpPr>
        <p:spPr>
          <a:xfrm>
            <a:off x="9509760" y="4572000"/>
            <a:ext cx="2011680" cy="640080"/>
          </a:xfrm>
          <a:prstGeom prst="roundRect">
            <a:avLst>
              <a:gd name="adj" fmla="val 14286"/>
            </a:avLst>
          </a:prstGeom>
          <a:solidFill>
            <a:srgbClr val="3763F2"/>
          </a:solidFill>
          <a:ln/>
        </p:spPr>
      </p:sp>
      <p:sp>
        <p:nvSpPr>
          <p:cNvPr id="18" name="Text 15"/>
          <p:cNvSpPr/>
          <p:nvPr/>
        </p:nvSpPr>
        <p:spPr>
          <a:xfrm>
            <a:off x="9555480" y="4572000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Report Generator &amp; Team Dashboard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Dashboard &amp; Visual Insights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Recharts on the frontend; SQL GROUP BY queries on the backend</a:t>
            </a:r>
            <a:endParaRPr lang="en-US" sz="125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371600"/>
          <a:ext cx="365760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Chart 1" descr=""/>
          <p:cNvGraphicFramePr/>
          <p:nvPr/>
        </p:nvGraphicFramePr>
        <p:xfrm>
          <a:off x="4297680" y="1371600"/>
          <a:ext cx="365760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6" name="Chart 2" descr=""/>
          <p:cNvGraphicFramePr/>
          <p:nvPr/>
        </p:nvGraphicFramePr>
        <p:xfrm>
          <a:off x="8138160" y="1371600"/>
          <a:ext cx="356616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 2"/>
          <p:cNvSpPr/>
          <p:nvPr/>
        </p:nvSpPr>
        <p:spPr>
          <a:xfrm>
            <a:off x="548640" y="3977640"/>
            <a:ext cx="1106424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reports submitted: 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week's count vs. team size</a:t>
            </a:r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Submission compliance rate: 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Submitted ÷ total members</a:t>
            </a:r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blockers across the team: 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 with a non-empty blockers field</a:t>
            </a:r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Recent activity feed: 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Latest submissions, newest first</a:t>
            </a:r>
            <a:endParaRPr lang="en-US" sz="1200" dirty="0"/>
          </a:p>
        </p:txBody>
      </p:sp>
      <p:sp>
        <p:nvSpPr>
          <p:cNvPr id="8" name="Text 3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Report Generator &amp; Team Dashboard</a:t>
            </a:r>
            <a:endParaRPr lang="en-US" sz="900" dirty="0"/>
          </a:p>
        </p:txBody>
      </p:sp>
      <p:sp>
        <p:nvSpPr>
          <p:cNvPr id="9" name="Text 4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01200" y="-1371600"/>
            <a:ext cx="4114800" cy="4114800"/>
          </a:xfrm>
          <a:prstGeom prst="ellipse">
            <a:avLst/>
          </a:prstGeom>
          <a:solidFill>
            <a:srgbClr val="1E2A45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548640"/>
            <a:ext cx="731520" cy="731520"/>
          </a:xfrm>
          <a:prstGeom prst="roundRect">
            <a:avLst>
              <a:gd name="adj" fmla="val 20000"/>
            </a:avLst>
          </a:prstGeom>
          <a:solidFill>
            <a:srgbClr val="3763F2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713232"/>
            <a:ext cx="402336" cy="40233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463040" y="548640"/>
            <a:ext cx="9601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Chat Assistant  (Good to Have)</a:t>
            </a:r>
            <a:endParaRPr lang="en-US" sz="2400" dirty="0"/>
          </a:p>
        </p:txBody>
      </p:sp>
      <p:sp>
        <p:nvSpPr>
          <p:cNvPr id="6" name="Text 3"/>
          <p:cNvSpPr/>
          <p:nvPr/>
        </p:nvSpPr>
        <p:spPr>
          <a:xfrm>
            <a:off x="548640" y="14630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AB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Status: proposed design, not built in the 4-day timebox — prioritized core CRUD, RBAC, and dashboard first.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48640" y="2176272"/>
            <a:ext cx="128016" cy="128016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8" name="Text 5"/>
          <p:cNvSpPr/>
          <p:nvPr/>
        </p:nvSpPr>
        <p:spPr>
          <a:xfrm>
            <a:off x="868680" y="2011680"/>
            <a:ext cx="10607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Approach:  </a:t>
            </a:r>
            <a:pPr indent="0" marL="0">
              <a:buNone/>
            </a:pPr>
            <a:r>
              <a:rPr lang="en-US" sz="12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Lightweight RAG: on each manager question, fetch the relevant week/project's report rows from PostgreSQL and pass them as context to the LLM (Anthropic Claude) alongside the question.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48640" y="2953512"/>
            <a:ext cx="128016" cy="128016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7"/>
          <p:cNvSpPr/>
          <p:nvPr/>
        </p:nvSpPr>
        <p:spPr>
          <a:xfrm>
            <a:off x="868680" y="2788920"/>
            <a:ext cx="10607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Capabilities:  </a:t>
            </a:r>
            <a:pPr indent="0" marL="0">
              <a:buNone/>
            </a:pPr>
            <a:r>
              <a:rPr lang="en-US" sz="12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Conversational Q&amp;A ("What did the design team work on last week?") and an auto-generated team summary highlighting completed work, recurring blockers, and workload imbalances.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548640" y="3730752"/>
            <a:ext cx="128016" cy="128016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9"/>
          <p:cNvSpPr/>
          <p:nvPr/>
        </p:nvSpPr>
        <p:spPr>
          <a:xfrm>
            <a:off x="868680" y="3566160"/>
            <a:ext cx="10607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privacy:  </a:t>
            </a:r>
            <a:pPr indent="0" marL="0">
              <a:buNone/>
            </a:pPr>
            <a:r>
              <a:rPr lang="en-US" sz="12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aggregated/derived text is sent to the LLM provider, scoped to what the requesting manager can already see; no raw credentials or unrelated members' data leave the server.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548640" y="4507992"/>
            <a:ext cx="128016" cy="128016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1"/>
          <p:cNvSpPr/>
          <p:nvPr/>
        </p:nvSpPr>
        <p:spPr>
          <a:xfrm>
            <a:off x="868680" y="4343400"/>
            <a:ext cx="10607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UI:  </a:t>
            </a:r>
            <a:pPr indent="0" marL="0">
              <a:buNone/>
            </a:pPr>
            <a:r>
              <a:rPr lang="en-US" sz="12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simple floating chat widget on the Team Dashboard, calling a new /api/assistant/query endpoint (manager-only).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Report Generator &amp; Team Dashboard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Challenges &amp; How They Were Solved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1106424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E293B">
                <a:alpha val="6000"/>
              </a:srgbClr>
            </a:outerShdw>
          </a:effectLst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554480"/>
            <a:ext cx="457200" cy="457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417320" y="1371600"/>
            <a:ext cx="4023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Keeping report fields identical for every user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577840" y="1371600"/>
            <a:ext cx="58521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Enforced once in the Sequelize model definition and again in a single shared ReportForm component — no per-user customization surface exists in the UI or API.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48640" y="2468880"/>
            <a:ext cx="1106424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E293B">
                <a:alpha val="6000"/>
              </a:srgbClr>
            </a:outerShdw>
          </a:effectLst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743200"/>
            <a:ext cx="457200" cy="4572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417320" y="2560320"/>
            <a:ext cx="4023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Preventing members from viewing/editing others' reports</a:t>
            </a:r>
            <a:endParaRPr lang="en-US" sz="1200" dirty="0"/>
          </a:p>
        </p:txBody>
      </p:sp>
      <p:sp>
        <p:nvSpPr>
          <p:cNvPr id="10" name="Text 6"/>
          <p:cNvSpPr/>
          <p:nvPr/>
        </p:nvSpPr>
        <p:spPr>
          <a:xfrm>
            <a:off x="5577840" y="2560320"/>
            <a:ext cx="58521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Ownership check happens in the controller (report.user === req.user.id), not just hidden in the frontend — verified with role-based route tests.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48640" y="3657600"/>
            <a:ext cx="1106424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E293B">
                <a:alpha val="6000"/>
              </a:srgbClr>
            </a:outerShdw>
          </a:effectLst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931920"/>
            <a:ext cx="457200" cy="45720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417320" y="3749040"/>
            <a:ext cx="4023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Computing dashboard metrics efficiently</a:t>
            </a:r>
            <a:endParaRPr lang="en-US" sz="1200" dirty="0"/>
          </a:p>
        </p:txBody>
      </p:sp>
      <p:sp>
        <p:nvSpPr>
          <p:cNvPr id="14" name="Text 9"/>
          <p:cNvSpPr/>
          <p:nvPr/>
        </p:nvSpPr>
        <p:spPr>
          <a:xfrm>
            <a:off x="5577840" y="3749040"/>
            <a:ext cx="58521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SQL GROUP BY / SUM / COUNT queries (via Sequelize) directly on the reports table instead of pulling all rows into Node and computing in memory.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548640" y="4846320"/>
            <a:ext cx="1106424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E293B">
                <a:alpha val="6000"/>
              </a:srgbClr>
            </a:outerShdw>
          </a:effectLst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120640"/>
            <a:ext cx="457200" cy="45720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417320" y="4937760"/>
            <a:ext cx="4023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Defining 'late' vs 'pending' submissions</a:t>
            </a:r>
            <a:endParaRPr lang="en-US" sz="1200" dirty="0"/>
          </a:p>
        </p:txBody>
      </p:sp>
      <p:sp>
        <p:nvSpPr>
          <p:cNvPr id="18" name="Text 12"/>
          <p:cNvSpPr/>
          <p:nvPr/>
        </p:nvSpPr>
        <p:spPr>
          <a:xfrm>
            <a:off x="5577840" y="4937760"/>
            <a:ext cx="58521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member is 'late' only once the selected week's Sunday has passed and they still haven't submitted — computed server-side per request.</a:t>
            </a:r>
            <a:endParaRPr lang="en-US" sz="1100" dirty="0"/>
          </a:p>
        </p:txBody>
      </p:sp>
      <p:sp>
        <p:nvSpPr>
          <p:cNvPr id="19" name="Text 13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Report Generator &amp; Team Dashboard</a:t>
            </a:r>
            <a:endParaRPr lang="en-US" sz="900" dirty="0"/>
          </a:p>
        </p:txBody>
      </p:sp>
      <p:sp>
        <p:nvSpPr>
          <p:cNvPr id="20" name="Text 14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Possible Future Improvements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3763F2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188720" y="137160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AI Chat Assistant described earlier (Q&amp;A + auto-generated team summaries)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202996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10B981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20299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188720" y="2029968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Email/Slack reminders for pending or late weekly reports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48640" y="268833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3763F2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268833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188720" y="2688336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Refresh-token rotation instead of long-lived JWTs, plus rate limiting on auth routes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48640" y="3346704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10B981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334670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188720" y="3346704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Per-project team assignment enforced at report-creation time (restrict project choices to assigned projects)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548640" y="4005072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3763F2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400507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188720" y="4005072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Exportable PDF/CSV weekly summaries for managers and stakeholders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548640" y="466344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10B981"/>
          </a:solidFill>
          <a:ln/>
        </p:spPr>
      </p:sp>
      <p:sp>
        <p:nvSpPr>
          <p:cNvPr id="19" name="Text 17"/>
          <p:cNvSpPr/>
          <p:nvPr/>
        </p:nvSpPr>
        <p:spPr>
          <a:xfrm>
            <a:off x="548640" y="4663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188720" y="466344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tests (Jest/Supertest) covering role-based access boundaries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Report Generator &amp; Team Dashboard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1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4572000" cy="4572000"/>
          </a:xfrm>
          <a:prstGeom prst="ellipse">
            <a:avLst/>
          </a:prstGeom>
          <a:solidFill>
            <a:srgbClr val="1E2A45"/>
          </a:solidFill>
          <a:ln/>
        </p:spPr>
      </p:sp>
      <p:sp>
        <p:nvSpPr>
          <p:cNvPr id="3" name="Shape 1"/>
          <p:cNvSpPr/>
          <p:nvPr/>
        </p:nvSpPr>
        <p:spPr>
          <a:xfrm>
            <a:off x="9601200" y="4114800"/>
            <a:ext cx="4572000" cy="4572000"/>
          </a:xfrm>
          <a:prstGeom prst="ellipse">
            <a:avLst/>
          </a:prstGeom>
          <a:solidFill>
            <a:srgbClr val="1E2A45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210312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31520" y="29718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Submission includes: GitHub repository · ER diagram · Presentation · Demo video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31520" y="3749040"/>
            <a:ext cx="502920" cy="502920"/>
          </a:xfrm>
          <a:prstGeom prst="roundRect">
            <a:avLst>
              <a:gd name="adj" fmla="val 20000"/>
            </a:avLst>
          </a:prstGeom>
          <a:solidFill>
            <a:srgbClr val="3763F2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3877056"/>
            <a:ext cx="256032" cy="25603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374904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Repository link — see submission form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Report Generator &amp; Team Dashboard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Weekly Report Generator &amp; Team Dashboard</dc:title>
  <dc:subject>PptxGenJS Presentation</dc:subject>
  <dc:creator>SE Internship Candidate</dc:creator>
  <cp:lastModifiedBy>SE Internship Candidate</cp:lastModifiedBy>
  <cp:revision>1</cp:revision>
  <dcterms:created xsi:type="dcterms:W3CDTF">2026-07-07T08:01:46Z</dcterms:created>
  <dcterms:modified xsi:type="dcterms:W3CDTF">2026-07-07T08:01:46Z</dcterms:modified>
</cp:coreProperties>
</file>